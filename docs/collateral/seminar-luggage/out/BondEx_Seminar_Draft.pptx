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［2分］チェックアウトが荷物を手放す自然な接点であることを示し、BondExの現在の取り組みを30秒で紹介する。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1.pn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783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左（図の変更で差し替え）" descr="s02a.png"/>
          <p:cNvPicPr>
            <a:picLocks noChangeAspect="1"/>
          </p:cNvPicPr>
          <p:nvPr/>
        </p:nvPicPr>
        <p:blipFill>
          <a:blip r:embed="rId2"/>
          <a:srcRect/>
          <a:stretch>
            <a:fillRect/>
          </a:stretch>
        </p:blipFill>
        <p:spPr>
          <a:xfrm>
            <a:off x="0" y="0"/>
            <a:ext cx="6070600" cy="4064000"/>
          </a:xfrm>
          <a:prstGeom prst="rect">
            <a:avLst/>
          </a:prstGeom>
        </p:spPr>
      </p:pic>
      <p:pic>
        <p:nvPicPr>
          <p:cNvPr id="3" name="写真・右（図の変更で差し替え）" descr="s02b.png"/>
          <p:cNvPicPr>
            <a:picLocks noChangeAspect="1"/>
          </p:cNvPicPr>
          <p:nvPr/>
        </p:nvPicPr>
        <p:blipFill>
          <a:blip r:embed="rId3"/>
          <a:srcRect/>
          <a:stretch>
            <a:fillRect/>
          </a:stretch>
        </p:blipFill>
        <p:spPr>
          <a:xfrm>
            <a:off x="6121400" y="0"/>
            <a:ext cx="6070600" cy="4064000"/>
          </a:xfrm>
          <a:prstGeom prst="rect">
            <a:avLst/>
          </a:prstGeom>
        </p:spPr>
      </p:pic>
      <p:sp>
        <p:nvSpPr>
          <p:cNvPr id="4" name="見出し"/>
          <p:cNvSpPr txBox="1"/>
          <p:nvPr/>
        </p:nvSpPr>
        <p:spPr>
          <a:xfrm>
            <a:off x="812800" y="4418648"/>
            <a:ext cx="9475490"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人と荷物は、</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3.pn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44000">
                <a:srgbClr val="000000">
                  <a:alpha val="0"/>
                </a:srgbClr>
              </a:gs>
              <a:gs pos="68000">
                <a:srgbClr val="000000">
                  <a:alpha val="42000"/>
                </a:srgbClr>
              </a:gs>
              <a:gs pos="100000">
                <a:srgbClr val="000000">
                  <a:alpha val="82000"/>
                </a:srgbClr>
              </a:gs>
            </a:gsLst>
            <a:lin ang="16200000" scaled="0"/>
          </a:gradFill>
          <a:ln>
            <a:noFill/>
          </a:ln>
        </p:spPr>
        <p:txBody>
          <a:bodyPr rtlCol="0" anchor="ctr"/>
          <a:lstStyle/>
          <a:p>
            <a:pPr algn="ctr"/>
          </a:p>
        </p:txBody>
      </p:sp>
      <p:sp>
        <p:nvSpPr>
          <p:cNvPr id="4" name="見出し"/>
          <p:cNvSpPr txBox="1"/>
          <p:nvPr/>
        </p:nvSpPr>
        <p:spPr>
          <a:xfrm>
            <a:off x="495300" y="688975"/>
            <a:ext cx="80518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「配送できる」だけでは、</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4.pn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270375"/>
            <a:ext cx="71120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荷物を手放す場所を、</a:t>
            </a:r>
          </a:p>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5.pn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0000">
                <a:srgbClr val="000000">
                  <a:alpha val="0"/>
                </a:srgbClr>
              </a:gs>
              <a:gs pos="62000">
                <a:srgbClr val="000000">
                  <a:alpha val="55000"/>
                </a:srgbClr>
              </a:gs>
              <a:gs pos="100000">
                <a:srgbClr val="000000">
                  <a:alpha val="86000"/>
                </a:srgbClr>
              </a:gs>
            </a:gsLst>
            <a:lin ang="108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「持ちたくない」が、</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3"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4"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5"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6"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7"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7.pn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「買う」と「持つ」を</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8.pn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22301"/>
            <a:ext cx="7640340" cy="1947664"/>
          </a:xfrm>
          <a:prstGeom prst="rect">
            <a:avLst/>
          </a:prstGeom>
          <a:noFill/>
        </p:spPr>
        <p:txBody>
          <a:bodyPr wrap="none" lIns="0" rIns="0" tIns="0" bIns="0" anchor="t"/>
          <a:lstStyle/>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人は旅する。</a:t>
            </a:r>
          </a:p>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荷物は物流に任せる。</a:t>
            </a:r>
          </a:p>
        </p:txBody>
      </p:sp>
      <p:pic>
        <p:nvPicPr>
          <p:cNvPr id="5" name="BondEx ロゴ" descr="bondex-logo-white.png"/>
          <p:cNvPicPr>
            <a:picLocks noChangeAspect="1"/>
          </p:cNvPicPr>
          <p:nvPr/>
        </p:nvPicPr>
        <p:blipFill>
          <a:blip r:embed="rId3">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