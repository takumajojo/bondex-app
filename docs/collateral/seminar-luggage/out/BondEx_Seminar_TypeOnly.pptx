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［0秒］開始前と司会の紹介中に映しておき、講演のテーマとBondExを覚えてもらう。QRコードから公式サイトへ案内する。</a:t>
            </a:r>
          </a:p>
          <a:p/>
          <a:p>
            <a:r>
              <a:t>（会場が開いたら、開始までこの表紙を映しておく）</a:t>
            </a:r>
          </a:p>
          <a:p>
            <a:r>
              <a:t>（司会のご紹介が終わったら一礼し、スライド1へ進めてから挨拶を始める）</a:t>
            </a:r>
          </a:p>
          <a:p/>
          <a:p>
            <a:r>
              <a:t>◆ 強調：（読み上げなし）</a:t>
            </a:r>
          </a:p>
          <a:p/>
          <a:p>
            <a:r>
              <a:t>→ つなぎ：一礼してスライド1へ。「皆さん、こんにちは。」</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皆さん、こんにちは。株式会社JOJO、BondExの谷口です。今日は15分ほど、「荷物」のお話をさせてください。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bondex.express"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BondEx ロゴ" descr="bondex-logo-red.png"/>
          <p:cNvPicPr>
            <a:picLocks noChangeAspect="1"/>
          </p:cNvPicPr>
          <p:nvPr/>
        </p:nvPicPr>
        <p:blipFill>
          <a:blip r:embed="rId2"/>
          <a:stretch>
            <a:fillRect/>
          </a:stretch>
        </p:blipFill>
        <p:spPr>
          <a:xfrm>
            <a:off x="812800" y="736600"/>
            <a:ext cx="1874639" cy="330200"/>
          </a:xfrm>
          <a:prstGeom prst="rect">
            <a:avLst/>
          </a:prstGeom>
        </p:spPr>
      </p:pic>
      <p:sp>
        <p:nvSpPr>
          <p:cNvPr id="3" name="見出し"/>
          <p:cNvSpPr txBox="1"/>
          <p:nvPr/>
        </p:nvSpPr>
        <p:spPr>
          <a:xfrm>
            <a:off x="482600" y="1855470"/>
            <a:ext cx="10314980" cy="1875433"/>
          </a:xfrm>
          <a:prstGeom prst="rect">
            <a:avLst/>
          </a:prstGeom>
          <a:noFill/>
        </p:spPr>
        <p:txBody>
          <a:bodyPr wrap="none" lIns="0" rIns="0" tIns="0" bIns="0" anchor="t"/>
          <a:lstStyle/>
          <a:p>
            <a:pPr algn="l" marL="330200">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日本旅行から、</a:t>
            </a:r>
          </a:p>
          <a:p>
            <a:pPr algn="l">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「自分で荷物を運ぶ」をなくす。</a:t>
            </a:r>
          </a:p>
        </p:txBody>
      </p:sp>
      <p:sp>
        <p:nvSpPr>
          <p:cNvPr id="4" name="タグライン"/>
          <p:cNvSpPr txBox="1"/>
          <p:nvPr/>
        </p:nvSpPr>
        <p:spPr>
          <a:xfrm>
            <a:off x="812800" y="4067044"/>
            <a:ext cx="4809728" cy="252412"/>
          </a:xfrm>
          <a:prstGeom prst="rect">
            <a:avLst/>
          </a:prstGeom>
          <a:noFill/>
        </p:spPr>
        <p:txBody>
          <a:bodyPr wrap="none" lIns="0" rIns="0" tIns="0" bIns="0" anchor="t"/>
          <a:lstStyle/>
          <a:p>
            <a:pPr>
              <a:lnSpc>
                <a:spcPts val="1988"/>
              </a:lnSpc>
              <a:spcBef>
                <a:spcPts val="0"/>
              </a:spcBef>
              <a:spcAft>
                <a:spcPts val="0"/>
              </a:spcAft>
            </a:pPr>
            <a:r>
              <a:rPr sz="1400" b="0" spc="280" lang="ja-JP" altLang="en-US">
                <a:solidFill>
                  <a:srgbClr val="A3A3A3"/>
                </a:solidFill>
                <a:latin typeface="Inter SemiBold"/>
                <a:ea typeface="Inter SemiBold"/>
                <a:cs typeface="Inter SemiBold"/>
              </a:rPr>
              <a:t>TRAVEL LIGHTER. TRAVEL FURTHER.</a:t>
            </a:r>
          </a:p>
        </p:txBody>
      </p:sp>
      <p:pic>
        <p:nvPicPr>
          <p:cNvPr id="5" name="QRコード（https://bondex.express）" descr="qr-bondex-express.png">
            <a:hlinkClick r:id="rId4"/>
          </p:cNvPr>
          <p:cNvPicPr>
            <a:picLocks noChangeAspect="1"/>
          </p:cNvPicPr>
          <p:nvPr/>
        </p:nvPicPr>
        <p:blipFill>
          <a:blip r:embed="rId3"/>
          <a:stretch>
            <a:fillRect/>
          </a:stretch>
        </p:blipFill>
        <p:spPr>
          <a:xfrm>
            <a:off x="9474200" y="4216400"/>
            <a:ext cx="1905000" cy="1905000"/>
          </a:xfrm>
          <a:prstGeom prst="rect">
            <a:avLst/>
          </a:prstGeom>
        </p:spPr>
      </p:pic>
      <p:sp>
        <p:nvSpPr>
          <p:cNvPr id="6" name="登壇者"/>
          <p:cNvSpPr txBox="1"/>
          <p:nvPr/>
        </p:nvSpPr>
        <p:spPr>
          <a:xfrm>
            <a:off x="812800" y="5452586"/>
            <a:ext cx="2880916" cy="234355"/>
          </a:xfrm>
          <a:prstGeom prst="rect">
            <a:avLst/>
          </a:prstGeom>
          <a:noFill/>
        </p:spPr>
        <p:txBody>
          <a:bodyPr wrap="none" lIns="0" rIns="0" tIns="0" bIns="0" anchor="t"/>
          <a:lstStyle/>
          <a:p>
            <a:pPr>
              <a:lnSpc>
                <a:spcPts val="1846"/>
              </a:lnSpc>
              <a:spcBef>
                <a:spcPts val="0"/>
              </a:spcBef>
              <a:spcAft>
                <a:spcPts val="0"/>
              </a:spcAft>
            </a:pPr>
            <a:r>
              <a:rPr sz="1300" b="0" spc="26" lang="ja-JP" altLang="en-US">
                <a:solidFill>
                  <a:srgbClr val="A3A3A3"/>
                </a:solidFill>
                <a:latin typeface="Noto Sans JP"/>
                <a:ea typeface="Noto Sans JP"/>
                <a:cs typeface="Noto Sans JP"/>
              </a:rPr>
              <a:t>株式会社JOJO　代表取締役</a:t>
            </a:r>
          </a:p>
        </p:txBody>
      </p:sp>
      <p:sp>
        <p:nvSpPr>
          <p:cNvPr id="7" name="登壇者"/>
          <p:cNvSpPr txBox="1"/>
          <p:nvPr/>
        </p:nvSpPr>
        <p:spPr>
          <a:xfrm>
            <a:off x="812800" y="5703768"/>
            <a:ext cx="2880916" cy="396677"/>
          </a:xfrm>
          <a:prstGeom prst="rect">
            <a:avLst/>
          </a:prstGeom>
          <a:noFill/>
        </p:spPr>
        <p:txBody>
          <a:bodyPr wrap="none" lIns="0" rIns="0" tIns="0" bIns="0" anchor="t"/>
          <a:lstStyle/>
          <a:p>
            <a:pPr>
              <a:lnSpc>
                <a:spcPts val="3124"/>
              </a:lnSpc>
              <a:spcBef>
                <a:spcPts val="0"/>
              </a:spcBef>
              <a:spcAft>
                <a:spcPts val="0"/>
              </a:spcAft>
            </a:pPr>
            <a:r>
              <a:rPr sz="2200" b="0" spc="132" lang="ja-JP" altLang="en-US">
                <a:solidFill>
                  <a:srgbClr val="FFFFFF"/>
                </a:solidFill>
                <a:latin typeface="Noto Sans JP Medium"/>
                <a:ea typeface="Noto Sans JP Medium"/>
                <a:cs typeface="Noto Sans JP Medium"/>
              </a:rPr>
              <a:t>谷口琢真</a:t>
            </a:r>
          </a:p>
        </p:txBody>
      </p:sp>
      <p:sp>
        <p:nvSpPr>
          <p:cNvPr id="8" name="QRの説明"/>
          <p:cNvSpPr txBox="1"/>
          <p:nvPr/>
        </p:nvSpPr>
        <p:spPr>
          <a:xfrm>
            <a:off x="5461000" y="5893574"/>
            <a:ext cx="3810000" cy="216396"/>
          </a:xfrm>
          <a:prstGeom prst="rect">
            <a:avLst/>
          </a:prstGeom>
          <a:noFill/>
        </p:spPr>
        <p:txBody>
          <a:bodyPr wrap="none" lIns="0" rIns="0" tIns="0" bIns="0" anchor="t"/>
          <a:lstStyle/>
          <a:p>
            <a:pPr algn="r">
              <a:lnSpc>
                <a:spcPts val="1704"/>
              </a:lnSpc>
              <a:spcBef>
                <a:spcPts val="0"/>
              </a:spcBef>
              <a:spcAft>
                <a:spcPts val="0"/>
              </a:spcAft>
            </a:pPr>
            <a:r>
              <a:rPr sz="1200" b="0" lang="ja-JP" altLang="en-US">
                <a:solidFill>
                  <a:srgbClr val="A3A3A3"/>
                </a:solidFill>
                <a:latin typeface="Noto Sans JP"/>
                <a:ea typeface="Noto Sans JP"/>
                <a:cs typeface="Noto Sans JP"/>
              </a:rPr>
              <a:t>BondEx 公式サイト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765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32901"/>
            <a:ext cx="10742331" cy="1893491"/>
          </a:xfrm>
          <a:prstGeom prst="rect">
            <a:avLst/>
          </a:prstGeom>
          <a:noFill/>
        </p:spPr>
        <p:txBody>
          <a:bodyPr wrap="none" lIns="0" rIns="0" tIns="0" bIns="0" anchor="t"/>
          <a:lstStyle/>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人と荷物は、</a:t>
            </a:r>
          </a:p>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9107984"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「配送できる」だけでは、</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「持ちたくない」が、</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3"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4"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5"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6"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7"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「買う」と「持つ」を</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259114"/>
            <a:ext cx="8631321" cy="2218134"/>
          </a:xfrm>
          <a:prstGeom prst="rect">
            <a:avLst/>
          </a:prstGeom>
          <a:noFill/>
        </p:spPr>
        <p:txBody>
          <a:bodyPr wrap="none" lIns="0" rIns="0" tIns="0" bIns="0" anchor="t"/>
          <a:lstStyle/>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人は旅する。</a:t>
            </a:r>
          </a:p>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荷物は物流に任せる。</a:t>
            </a:r>
          </a:p>
        </p:txBody>
      </p:sp>
      <p:pic>
        <p:nvPicPr>
          <p:cNvPr id="3" name="BondEx ロゴ" descr="bondex-logo-red.png"/>
          <p:cNvPicPr>
            <a:picLocks noChangeAspect="1"/>
          </p:cNvPicPr>
          <p:nvPr/>
        </p:nvPicPr>
        <p:blipFill>
          <a:blip r:embed="rId2">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